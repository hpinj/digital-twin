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6"/>
  </p:notesMasterIdLst>
  <p:handoutMasterIdLst>
    <p:handoutMasterId r:id="rId17"/>
  </p:handoutMasterIdLst>
  <p:sldIdLst>
    <p:sldId id="299" r:id="rId2"/>
    <p:sldId id="320" r:id="rId3"/>
    <p:sldId id="338" r:id="rId4"/>
    <p:sldId id="344" r:id="rId5"/>
    <p:sldId id="340" r:id="rId6"/>
    <p:sldId id="345" r:id="rId7"/>
    <p:sldId id="347" r:id="rId8"/>
    <p:sldId id="349" r:id="rId9"/>
    <p:sldId id="341" r:id="rId10"/>
    <p:sldId id="346" r:id="rId11"/>
    <p:sldId id="348" r:id="rId12"/>
    <p:sldId id="350" r:id="rId13"/>
    <p:sldId id="352" r:id="rId14"/>
    <p:sldId id="30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181777"/>
    <a:srgbClr val="3192A5"/>
    <a:srgbClr val="000000"/>
    <a:srgbClr val="C37C3A"/>
    <a:srgbClr val="C58F5E"/>
    <a:srgbClr val="45B451"/>
    <a:srgbClr val="43AFC0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1194" y="-114"/>
      </p:cViewPr>
      <p:guideLst/>
    </p:cSldViewPr>
  </p:slideViewPr>
  <p:outlineViewPr>
    <p:cViewPr>
      <p:scale>
        <a:sx n="33" d="100"/>
        <a:sy n="33" d="100"/>
      </p:scale>
      <p:origin x="0" y="-15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695C2-E572-4188-A8D4-722C14432A99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2A541-C604-4A4C-9FE2-2798FB8FE3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2349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F98D3-8CE0-46A8-8747-4E07A404019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B6116-7E3F-4334-9905-2D12638B80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1225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水, 鮮豔, 彩虹, 藝術 的圖片&#10;&#10;AI 產生的內容可能不正確。">
            <a:extLst>
              <a:ext uri="{FF2B5EF4-FFF2-40B4-BE49-F238E27FC236}">
                <a16:creationId xmlns:a16="http://schemas.microsoft.com/office/drawing/2014/main" id="{EFC307F2-31C2-4905-42EC-E7D280B95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400" cy="688538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4480" y="2638688"/>
            <a:ext cx="7704731" cy="1580627"/>
          </a:xfrm>
        </p:spPr>
        <p:txBody>
          <a:bodyPr anchor="ctr">
            <a:norm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4782536" y="4507003"/>
            <a:ext cx="3413880" cy="935152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Insert Name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845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482" y="1046299"/>
            <a:ext cx="78867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8838" y="6428096"/>
            <a:ext cx="432000" cy="293380"/>
          </a:xfr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" y="3792"/>
            <a:ext cx="9144000" cy="936000"/>
          </a:xfrm>
          <a:prstGeom prst="rect">
            <a:avLst/>
          </a:prstGeom>
          <a:gradFill flip="none" rotWithShape="1">
            <a:gsLst>
              <a:gs pos="100000">
                <a:srgbClr val="00B0F0">
                  <a:lumMod val="94000"/>
                </a:srgbClr>
              </a:gs>
              <a:gs pos="52000">
                <a:schemeClr val="accent6">
                  <a:lumMod val="75000"/>
                </a:schemeClr>
              </a:gs>
              <a:gs pos="2000">
                <a:srgbClr val="CCCC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00" y="64800"/>
            <a:ext cx="8971200" cy="842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975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5067"/>
            <a:ext cx="9144000" cy="68349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00" y="7117"/>
            <a:ext cx="8964000" cy="936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615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81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00" y="-15159"/>
            <a:ext cx="8964000" cy="9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文字版面配置區 7"/>
          <p:cNvSpPr>
            <a:spLocks noGrp="1"/>
          </p:cNvSpPr>
          <p:nvPr>
            <p:ph type="body" sz="quarter" idx="13" hasCustomPrompt="1"/>
          </p:nvPr>
        </p:nvSpPr>
        <p:spPr>
          <a:xfrm>
            <a:off x="178904" y="1121588"/>
            <a:ext cx="8965096" cy="2898468"/>
          </a:xfrm>
        </p:spPr>
        <p:txBody>
          <a:bodyPr/>
          <a:lstStyle>
            <a:lvl1pPr marL="171450" indent="-171450">
              <a:buFont typeface="Wingdings" panose="05000000000000000000" pitchFamily="2" charset="2"/>
              <a:buChar char="l"/>
              <a:defRPr>
                <a:solidFill>
                  <a:schemeClr val="bg1"/>
                </a:solidFill>
              </a:defRPr>
            </a:lvl1pPr>
            <a:lvl2pPr marL="600075" indent="-257175">
              <a:buFont typeface="Calibri" panose="020F0502020204030204" pitchFamily="34" charset="0"/>
              <a:buChar char="̶"/>
              <a:defRPr>
                <a:solidFill>
                  <a:schemeClr val="bg1"/>
                </a:solidFill>
              </a:defRPr>
            </a:lvl2pPr>
            <a:lvl3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285875" indent="-257175">
              <a:buFont typeface="+mj-lt"/>
              <a:buAutoNum type="arabicParenR"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 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23691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/>
          <a:srcRect t="57035"/>
          <a:stretch/>
        </p:blipFill>
        <p:spPr>
          <a:xfrm>
            <a:off x="0" y="0"/>
            <a:ext cx="914895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6000" y="0"/>
            <a:ext cx="8932950" cy="9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84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11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4762066" y="6633049"/>
            <a:ext cx="455859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675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Copyright © 2023 Gallant Precision Machining  Co., Ltd. All rights reserved. </a:t>
            </a:r>
            <a:endParaRPr kumimoji="0" lang="zh-TW" altLang="en-US" sz="675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entury Gothic" panose="020B0502020202020204" pitchFamily="34" charset="0"/>
              <a:cs typeface="Tahoma" panose="020B0604030504040204" pitchFamily="34" charset="0"/>
              <a:sym typeface="Arial"/>
            </a:endParaRPr>
          </a:p>
        </p:txBody>
      </p:sp>
      <p:pic>
        <p:nvPicPr>
          <p:cNvPr id="4" name="圖片 3" descr="一張含有 螢幕擷取畫面, 文字, 平面設計, 圖形 的圖片&#10;&#10;AI 產生的內容可能不正確。">
            <a:extLst>
              <a:ext uri="{FF2B5EF4-FFF2-40B4-BE49-F238E27FC236}">
                <a16:creationId xmlns:a16="http://schemas.microsoft.com/office/drawing/2014/main" id="{FFC26E39-480C-9F01-DAEE-D5DD9680BD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" b="-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600" y="0"/>
            <a:ext cx="8978400" cy="1150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984" y="149936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EB575-4E80-4709-860D-E30D1D519258}" type="datetime1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4762066" y="6633049"/>
            <a:ext cx="455859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675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Copyright © 2023 Gallant Precision Machining  Co., Ltd. All rights reserved. </a:t>
            </a:r>
            <a:endParaRPr kumimoji="0" lang="zh-TW" altLang="en-US" sz="675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entury Gothic" panose="020B050202020202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1" name="橢圓 10"/>
          <p:cNvSpPr/>
          <p:nvPr userDrawn="1"/>
        </p:nvSpPr>
        <p:spPr>
          <a:xfrm>
            <a:off x="8600543" y="6360296"/>
            <a:ext cx="432000" cy="432000"/>
          </a:xfrm>
          <a:prstGeom prst="ellipse">
            <a:avLst/>
          </a:prstGeom>
          <a:solidFill>
            <a:srgbClr val="66C0D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2" name="橢圓 11"/>
          <p:cNvSpPr/>
          <p:nvPr userDrawn="1"/>
        </p:nvSpPr>
        <p:spPr>
          <a:xfrm>
            <a:off x="8892823" y="6612296"/>
            <a:ext cx="180000" cy="180000"/>
          </a:xfrm>
          <a:prstGeom prst="ellipse">
            <a:avLst/>
          </a:prstGeom>
          <a:solidFill>
            <a:srgbClr val="00B05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9368" y="6358321"/>
            <a:ext cx="514350" cy="434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1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1" r:id="rId2"/>
    <p:sldLayoutId id="2147483675" r:id="rId3"/>
    <p:sldLayoutId id="2147483685" r:id="rId4"/>
    <p:sldLayoutId id="2147483686" r:id="rId5"/>
    <p:sldLayoutId id="214748368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181777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34595-9BC1-3CE5-C919-8EF0E94EB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7" y="2722871"/>
            <a:ext cx="7535333" cy="1580627"/>
          </a:xfrm>
        </p:spPr>
        <p:txBody>
          <a:bodyPr/>
          <a:lstStyle/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EBO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恆溫倉儲貨架</a:t>
            </a:r>
            <a:r>
              <a:rPr lang="zh-TW" altLang="en-US" sz="3600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概念性提案</a:t>
            </a:r>
            <a:r>
              <a:rPr lang="zh-TW" altLang="en-US" dirty="0"/>
              <a:t>說明</a:t>
            </a:r>
          </a:p>
        </p:txBody>
      </p:sp>
      <p:pic>
        <p:nvPicPr>
          <p:cNvPr id="4" name="圖片 3" descr="一張含有 字型, 圖形, 平面設計, 印刷術 的圖片&#10;&#10;AI 產生的內容可能不正確。">
            <a:extLst>
              <a:ext uri="{FF2B5EF4-FFF2-40B4-BE49-F238E27FC236}">
                <a16:creationId xmlns:a16="http://schemas.microsoft.com/office/drawing/2014/main" id="{0B1C7255-7122-5437-F3C3-73E3784ADD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918" y="582952"/>
            <a:ext cx="2738272" cy="623827"/>
          </a:xfrm>
          <a:prstGeom prst="rect">
            <a:avLst/>
          </a:prstGeom>
        </p:spPr>
      </p:pic>
      <p:pic>
        <p:nvPicPr>
          <p:cNvPr id="5" name="圖片 4" descr="一張含有 字型, 圖形, 印刷術, 文字 的圖片&#10;&#10;AI 產生的內容可能不正確。">
            <a:extLst>
              <a:ext uri="{FF2B5EF4-FFF2-40B4-BE49-F238E27FC236}">
                <a16:creationId xmlns:a16="http://schemas.microsoft.com/office/drawing/2014/main" id="{197268A1-29CE-42E9-9254-A2614DD4D2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15" y="611546"/>
            <a:ext cx="1554694" cy="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86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2E8E-20EC-A629-B01E-737FAB50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92C2BC2-7F2F-465E-A21F-9BE9E953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514" y="2428679"/>
            <a:ext cx="2698486" cy="363008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AD9879D-B2E1-4DA7-9D19-19CD89A0F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583" y="1979609"/>
            <a:ext cx="3979805" cy="407915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13646A2-1793-96DC-5F0F-B3F2043A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3F91849-6A82-4003-8846-B90552D60AE2}"/>
              </a:ext>
            </a:extLst>
          </p:cNvPr>
          <p:cNvSpPr txBox="1"/>
          <p:nvPr/>
        </p:nvSpPr>
        <p:spPr>
          <a:xfrm>
            <a:off x="671602" y="1010065"/>
            <a:ext cx="4882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大約外型尺寸</a:t>
            </a:r>
            <a:r>
              <a:rPr lang="en-US" altLang="zh-TW" dirty="0"/>
              <a:t>: L1780x D510x H1600mm(</a:t>
            </a:r>
            <a:r>
              <a:rPr lang="zh-TW" altLang="en-US" dirty="0"/>
              <a:t>暫定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FEC1E7D-9D3C-45C1-ADF5-08677260D5F1}"/>
              </a:ext>
            </a:extLst>
          </p:cNvPr>
          <p:cNvCxnSpPr>
            <a:cxnSpLocks/>
          </p:cNvCxnSpPr>
          <p:nvPr/>
        </p:nvCxnSpPr>
        <p:spPr>
          <a:xfrm>
            <a:off x="1142665" y="2204720"/>
            <a:ext cx="815023" cy="2502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EA85783-4D22-4204-8C72-9B4860EF2B9E}"/>
              </a:ext>
            </a:extLst>
          </p:cNvPr>
          <p:cNvCxnSpPr>
            <a:cxnSpLocks/>
          </p:cNvCxnSpPr>
          <p:nvPr/>
        </p:nvCxnSpPr>
        <p:spPr>
          <a:xfrm>
            <a:off x="1094302" y="5114427"/>
            <a:ext cx="831781" cy="243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33B05F6-65DF-456E-B62F-D0AB96F9FE8E}"/>
              </a:ext>
            </a:extLst>
          </p:cNvPr>
          <p:cNvSpPr txBox="1"/>
          <p:nvPr/>
        </p:nvSpPr>
        <p:spPr>
          <a:xfrm>
            <a:off x="659687" y="3432469"/>
            <a:ext cx="123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1600mm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67BC58D-F47D-442E-9EE2-16071BC1D8B3}"/>
              </a:ext>
            </a:extLst>
          </p:cNvPr>
          <p:cNvCxnSpPr>
            <a:cxnSpLocks/>
          </p:cNvCxnSpPr>
          <p:nvPr/>
        </p:nvCxnSpPr>
        <p:spPr>
          <a:xfrm flipV="1">
            <a:off x="1045756" y="2133109"/>
            <a:ext cx="11643" cy="1211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726136E-B94E-4272-966B-6092B50719DA}"/>
              </a:ext>
            </a:extLst>
          </p:cNvPr>
          <p:cNvCxnSpPr>
            <a:cxnSpLocks/>
          </p:cNvCxnSpPr>
          <p:nvPr/>
        </p:nvCxnSpPr>
        <p:spPr>
          <a:xfrm>
            <a:off x="1064100" y="3894667"/>
            <a:ext cx="0" cy="1163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標題 3">
            <a:extLst>
              <a:ext uri="{FF2B5EF4-FFF2-40B4-BE49-F238E27FC236}">
                <a16:creationId xmlns:a16="http://schemas.microsoft.com/office/drawing/2014/main" id="{A009D637-11D0-4954-8ABE-3FB44B797230}"/>
              </a:ext>
            </a:extLst>
          </p:cNvPr>
          <p:cNvSpPr txBox="1">
            <a:spLocks/>
          </p:cNvSpPr>
          <p:nvPr/>
        </p:nvSpPr>
        <p:spPr>
          <a:xfrm>
            <a:off x="172802" y="48999"/>
            <a:ext cx="8971200" cy="84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EBO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恆溫倉儲貨架外形尺寸</a:t>
            </a:r>
            <a:endParaRPr lang="zh-TW" altLang="en-US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E1A95CAC-70C4-4B62-B6AE-CB7DCB070487}"/>
              </a:ext>
            </a:extLst>
          </p:cNvPr>
          <p:cNvCxnSpPr>
            <a:cxnSpLocks/>
          </p:cNvCxnSpPr>
          <p:nvPr/>
        </p:nvCxnSpPr>
        <p:spPr>
          <a:xfrm>
            <a:off x="1778149" y="1722381"/>
            <a:ext cx="815023" cy="2502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F16A20C-9220-4EC0-A2FE-6D8B55374A59}"/>
              </a:ext>
            </a:extLst>
          </p:cNvPr>
          <p:cNvCxnSpPr>
            <a:cxnSpLocks/>
          </p:cNvCxnSpPr>
          <p:nvPr/>
        </p:nvCxnSpPr>
        <p:spPr>
          <a:xfrm flipV="1">
            <a:off x="1245951" y="1786830"/>
            <a:ext cx="526963" cy="3563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9BF5D17-0E85-4A05-A421-CD16A855A8ED}"/>
              </a:ext>
            </a:extLst>
          </p:cNvPr>
          <p:cNvSpPr txBox="1"/>
          <p:nvPr/>
        </p:nvSpPr>
        <p:spPr>
          <a:xfrm>
            <a:off x="722225" y="1599351"/>
            <a:ext cx="96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510mm</a:t>
            </a:r>
            <a:endParaRPr lang="zh-TW" altLang="en-US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3B65D4F-414F-4FE1-A852-2712BB51A7A5}"/>
              </a:ext>
            </a:extLst>
          </p:cNvPr>
          <p:cNvCxnSpPr>
            <a:cxnSpLocks/>
          </p:cNvCxnSpPr>
          <p:nvPr/>
        </p:nvCxnSpPr>
        <p:spPr>
          <a:xfrm flipH="1">
            <a:off x="1590454" y="5417824"/>
            <a:ext cx="483589" cy="3415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733C6820-E023-4209-84D1-66B88E6EBA5E}"/>
              </a:ext>
            </a:extLst>
          </p:cNvPr>
          <p:cNvCxnSpPr>
            <a:cxnSpLocks/>
          </p:cNvCxnSpPr>
          <p:nvPr/>
        </p:nvCxnSpPr>
        <p:spPr>
          <a:xfrm flipH="1">
            <a:off x="4718265" y="5883162"/>
            <a:ext cx="669116" cy="5802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6B3B4628-58B7-4725-ACC8-203E1041ECE8}"/>
              </a:ext>
            </a:extLst>
          </p:cNvPr>
          <p:cNvCxnSpPr>
            <a:cxnSpLocks/>
          </p:cNvCxnSpPr>
          <p:nvPr/>
        </p:nvCxnSpPr>
        <p:spPr>
          <a:xfrm flipH="1" flipV="1">
            <a:off x="1736953" y="5692107"/>
            <a:ext cx="953978" cy="20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1F9B838C-C424-461D-826C-ABA0CC02451D}"/>
              </a:ext>
            </a:extLst>
          </p:cNvPr>
          <p:cNvCxnSpPr>
            <a:cxnSpLocks/>
          </p:cNvCxnSpPr>
          <p:nvPr/>
        </p:nvCxnSpPr>
        <p:spPr>
          <a:xfrm>
            <a:off x="3813176" y="6082238"/>
            <a:ext cx="758824" cy="16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1FD5FA2-0F27-466A-AEC6-FB278B7D271F}"/>
              </a:ext>
            </a:extLst>
          </p:cNvPr>
          <p:cNvSpPr txBox="1"/>
          <p:nvPr/>
        </p:nvSpPr>
        <p:spPr>
          <a:xfrm>
            <a:off x="2734365" y="5745887"/>
            <a:ext cx="111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1780mm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3DD9F81-F695-4725-8473-21B0816D5A7E}"/>
              </a:ext>
            </a:extLst>
          </p:cNvPr>
          <p:cNvSpPr txBox="1"/>
          <p:nvPr/>
        </p:nvSpPr>
        <p:spPr>
          <a:xfrm>
            <a:off x="2734365" y="1519875"/>
            <a:ext cx="3219901" cy="369332"/>
          </a:xfrm>
          <a:prstGeom prst="rect">
            <a:avLst/>
          </a:prstGeom>
          <a:noFill/>
          <a:ln w="25400"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4*3:</a:t>
            </a:r>
            <a:r>
              <a:rPr lang="zh-TW" altLang="en-US" dirty="0"/>
              <a:t>共</a:t>
            </a:r>
            <a:r>
              <a:rPr lang="en-US" altLang="zh-TW" dirty="0"/>
              <a:t>12</a:t>
            </a:r>
            <a:r>
              <a:rPr lang="zh-TW" altLang="en-US" dirty="0"/>
              <a:t>個</a:t>
            </a:r>
            <a:r>
              <a:rPr lang="en-US" altLang="zh-TW" dirty="0"/>
              <a:t>,</a:t>
            </a:r>
            <a:r>
              <a:rPr lang="zh-TW" altLang="en-US" dirty="0"/>
              <a:t>各別恆溫儲位單元</a:t>
            </a: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05B8D455-17FE-458D-BF1E-5501FFD10EEA}"/>
              </a:ext>
            </a:extLst>
          </p:cNvPr>
          <p:cNvCxnSpPr>
            <a:cxnSpLocks/>
          </p:cNvCxnSpPr>
          <p:nvPr/>
        </p:nvCxnSpPr>
        <p:spPr>
          <a:xfrm>
            <a:off x="2734365" y="1889207"/>
            <a:ext cx="159126" cy="1222983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B5D18E4-AEF7-4934-9975-A55EBD2E1CF1}"/>
              </a:ext>
            </a:extLst>
          </p:cNvPr>
          <p:cNvCxnSpPr>
            <a:cxnSpLocks/>
          </p:cNvCxnSpPr>
          <p:nvPr/>
        </p:nvCxnSpPr>
        <p:spPr>
          <a:xfrm>
            <a:off x="6102551" y="3927128"/>
            <a:ext cx="829484" cy="1251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D187A4DD-3C6E-4EF3-8B01-86EDF9A5D719}"/>
              </a:ext>
            </a:extLst>
          </p:cNvPr>
          <p:cNvCxnSpPr>
            <a:cxnSpLocks/>
          </p:cNvCxnSpPr>
          <p:nvPr/>
        </p:nvCxnSpPr>
        <p:spPr>
          <a:xfrm>
            <a:off x="6102551" y="5557924"/>
            <a:ext cx="800253" cy="1341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5CEBC65-68D0-480D-8EF2-F2B3FA9CFE3F}"/>
              </a:ext>
            </a:extLst>
          </p:cNvPr>
          <p:cNvCxnSpPr>
            <a:cxnSpLocks/>
          </p:cNvCxnSpPr>
          <p:nvPr/>
        </p:nvCxnSpPr>
        <p:spPr>
          <a:xfrm flipV="1">
            <a:off x="6119213" y="3870613"/>
            <a:ext cx="0" cy="605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FB5D57D3-D336-4DFB-A82F-39BBA65B6274}"/>
              </a:ext>
            </a:extLst>
          </p:cNvPr>
          <p:cNvCxnSpPr>
            <a:cxnSpLocks/>
          </p:cNvCxnSpPr>
          <p:nvPr/>
        </p:nvCxnSpPr>
        <p:spPr>
          <a:xfrm>
            <a:off x="6113392" y="5007591"/>
            <a:ext cx="0" cy="55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AEFA305-59DB-431C-A411-098012E8D6AC}"/>
              </a:ext>
            </a:extLst>
          </p:cNvPr>
          <p:cNvSpPr txBox="1"/>
          <p:nvPr/>
        </p:nvSpPr>
        <p:spPr>
          <a:xfrm>
            <a:off x="5901144" y="4523028"/>
            <a:ext cx="123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900mm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2B81839-1F06-4D55-AFF2-B94E1015A50A}"/>
              </a:ext>
            </a:extLst>
          </p:cNvPr>
          <p:cNvSpPr txBox="1"/>
          <p:nvPr/>
        </p:nvSpPr>
        <p:spPr>
          <a:xfrm>
            <a:off x="6714170" y="1599351"/>
            <a:ext cx="2068502" cy="646331"/>
          </a:xfrm>
          <a:prstGeom prst="rect">
            <a:avLst/>
          </a:prstGeom>
          <a:noFill/>
          <a:ln w="25400"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*</a:t>
            </a:r>
            <a:r>
              <a:rPr lang="en-US" altLang="zh-TW" dirty="0"/>
              <a:t>2: 2</a:t>
            </a:r>
            <a:r>
              <a:rPr lang="zh-TW" altLang="en-US" dirty="0"/>
              <a:t>個</a:t>
            </a:r>
            <a:r>
              <a:rPr lang="en-US" altLang="zh-TW" dirty="0"/>
              <a:t>,</a:t>
            </a:r>
            <a:r>
              <a:rPr lang="zh-TW" altLang="en-US" dirty="0"/>
              <a:t>各別恆溫儲位單元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2D49BB6-2952-4A4E-B3CA-FD0E8EB759BE}"/>
              </a:ext>
            </a:extLst>
          </p:cNvPr>
          <p:cNvSpPr txBox="1"/>
          <p:nvPr/>
        </p:nvSpPr>
        <p:spPr>
          <a:xfrm>
            <a:off x="2435494" y="6278718"/>
            <a:ext cx="1231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Rack</a:t>
            </a:r>
            <a:r>
              <a:rPr lang="zh-TW" altLang="en-US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樣式</a:t>
            </a:r>
            <a:endParaRPr lang="en-US" altLang="zh-TW" dirty="0">
              <a:solidFill>
                <a:srgbClr val="40404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1C2901D-51BF-4F5C-BBAF-905C5C8F4005}"/>
              </a:ext>
            </a:extLst>
          </p:cNvPr>
          <p:cNvSpPr txBox="1"/>
          <p:nvPr/>
        </p:nvSpPr>
        <p:spPr>
          <a:xfrm>
            <a:off x="6620306" y="6042190"/>
            <a:ext cx="2573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Stand alone_1*2</a:t>
            </a:r>
            <a:r>
              <a:rPr lang="zh-TW" altLang="en-US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樣式</a:t>
            </a:r>
            <a:endParaRPr lang="en-US" altLang="zh-TW" dirty="0">
              <a:solidFill>
                <a:srgbClr val="40404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E9261BF-7B14-4156-BCAB-D72F2FCD6AE0}"/>
              </a:ext>
            </a:extLst>
          </p:cNvPr>
          <p:cNvCxnSpPr>
            <a:cxnSpLocks/>
          </p:cNvCxnSpPr>
          <p:nvPr/>
        </p:nvCxnSpPr>
        <p:spPr>
          <a:xfrm>
            <a:off x="6714170" y="2245682"/>
            <a:ext cx="480380" cy="986468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9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FED032E-0E30-41EE-B4DE-369F48FC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2FC95819-8EEC-44F7-8859-15CB7EB5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</a:t>
            </a:r>
            <a:r>
              <a:rPr lang="zh-TW" altLang="en-US" dirty="0"/>
              <a:t> </a:t>
            </a:r>
            <a:r>
              <a:rPr lang="en-US" altLang="zh-TW" dirty="0"/>
              <a:t>Layout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6343DB-DD23-40B0-BD8C-A2F584D7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87" y="1820783"/>
            <a:ext cx="5283826" cy="397406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6592C4E-CDA4-49AE-8483-8D735401A2B3}"/>
              </a:ext>
            </a:extLst>
          </p:cNvPr>
          <p:cNvSpPr txBox="1"/>
          <p:nvPr/>
        </p:nvSpPr>
        <p:spPr>
          <a:xfrm>
            <a:off x="2829239" y="1510185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Air Curtain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3036B967-3934-40F2-85D6-037039E66EAB}"/>
              </a:ext>
            </a:extLst>
          </p:cNvPr>
          <p:cNvCxnSpPr>
            <a:cxnSpLocks/>
          </p:cNvCxnSpPr>
          <p:nvPr/>
        </p:nvCxnSpPr>
        <p:spPr>
          <a:xfrm flipH="1">
            <a:off x="2480733" y="1879517"/>
            <a:ext cx="628228" cy="635083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2ABF1C8-CFDF-4FE1-893C-086284C0711F}"/>
              </a:ext>
            </a:extLst>
          </p:cNvPr>
          <p:cNvSpPr txBox="1"/>
          <p:nvPr/>
        </p:nvSpPr>
        <p:spPr>
          <a:xfrm>
            <a:off x="6076879" y="5707870"/>
            <a:ext cx="2446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Input</a:t>
            </a:r>
          </a:p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下方吹氣</a:t>
            </a:r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21413DC-5278-47DF-ABB7-722C119FDAF4}"/>
              </a:ext>
            </a:extLst>
          </p:cNvPr>
          <p:cNvCxnSpPr>
            <a:cxnSpLocks/>
          </p:cNvCxnSpPr>
          <p:nvPr/>
        </p:nvCxnSpPr>
        <p:spPr>
          <a:xfrm flipH="1" flipV="1">
            <a:off x="5800937" y="4978485"/>
            <a:ext cx="1326576" cy="816362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75BC0940-8140-487B-ABD1-145DFAB0339D}"/>
              </a:ext>
            </a:extLst>
          </p:cNvPr>
          <p:cNvSpPr/>
          <p:nvPr/>
        </p:nvSpPr>
        <p:spPr>
          <a:xfrm>
            <a:off x="1990880" y="3122623"/>
            <a:ext cx="448734" cy="7677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92FC576-28D6-4A2A-9D2E-1FA10F91B682}"/>
              </a:ext>
            </a:extLst>
          </p:cNvPr>
          <p:cNvSpPr txBox="1"/>
          <p:nvPr/>
        </p:nvSpPr>
        <p:spPr>
          <a:xfrm>
            <a:off x="1036245" y="3244334"/>
            <a:ext cx="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Flow </a:t>
            </a:r>
            <a:r>
              <a:rPr lang="zh-TW" altLang="en-US" dirty="0"/>
              <a:t>方向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7AA1EB4-2446-4E70-9D15-2E2DF6551D46}"/>
              </a:ext>
            </a:extLst>
          </p:cNvPr>
          <p:cNvCxnSpPr>
            <a:cxnSpLocks/>
          </p:cNvCxnSpPr>
          <p:nvPr/>
        </p:nvCxnSpPr>
        <p:spPr>
          <a:xfrm flipH="1">
            <a:off x="6035042" y="1807184"/>
            <a:ext cx="772158" cy="1244707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09454C7-E3D0-4BD1-AEBD-1798658A28FC}"/>
              </a:ext>
            </a:extLst>
          </p:cNvPr>
          <p:cNvCxnSpPr>
            <a:cxnSpLocks/>
          </p:cNvCxnSpPr>
          <p:nvPr/>
        </p:nvCxnSpPr>
        <p:spPr>
          <a:xfrm flipV="1">
            <a:off x="3383395" y="5386666"/>
            <a:ext cx="2052205" cy="488657"/>
          </a:xfrm>
          <a:prstGeom prst="straightConnector1">
            <a:avLst/>
          </a:prstGeom>
          <a:ln>
            <a:solidFill>
              <a:srgbClr val="0000F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598FB0A-6CE8-4FF7-8E2B-47EFC70551DB}"/>
              </a:ext>
            </a:extLst>
          </p:cNvPr>
          <p:cNvSpPr txBox="1"/>
          <p:nvPr/>
        </p:nvSpPr>
        <p:spPr>
          <a:xfrm>
            <a:off x="2480733" y="5875323"/>
            <a:ext cx="2446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Output </a:t>
            </a:r>
          </a:p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下方回風</a:t>
            </a:r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A2FA177-066B-47DA-8734-8B329A9D586C}"/>
              </a:ext>
            </a:extLst>
          </p:cNvPr>
          <p:cNvSpPr txBox="1"/>
          <p:nvPr/>
        </p:nvSpPr>
        <p:spPr>
          <a:xfrm>
            <a:off x="6210299" y="1231802"/>
            <a:ext cx="2446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Input</a:t>
            </a:r>
          </a:p>
          <a:p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上方吹氣</a:t>
            </a:r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64DEB1B-93D2-47CA-AB1F-3CE2F6F7E96D}"/>
              </a:ext>
            </a:extLst>
          </p:cNvPr>
          <p:cNvCxnSpPr>
            <a:cxnSpLocks/>
          </p:cNvCxnSpPr>
          <p:nvPr/>
        </p:nvCxnSpPr>
        <p:spPr>
          <a:xfrm flipV="1">
            <a:off x="2054407" y="4275941"/>
            <a:ext cx="1341686" cy="912642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4F2E25F-C6B7-4618-90A3-ECB1A43A1ECF}"/>
              </a:ext>
            </a:extLst>
          </p:cNvPr>
          <p:cNvSpPr txBox="1"/>
          <p:nvPr/>
        </p:nvSpPr>
        <p:spPr>
          <a:xfrm>
            <a:off x="446984" y="5095378"/>
            <a:ext cx="1768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溫度</a:t>
            </a:r>
            <a:r>
              <a:rPr lang="en-US" altLang="zh-TW" dirty="0"/>
              <a:t>sensor</a:t>
            </a:r>
            <a:r>
              <a:rPr lang="zh-TW" altLang="en-US" dirty="0"/>
              <a:t>位置</a:t>
            </a:r>
          </a:p>
        </p:txBody>
      </p:sp>
    </p:spTree>
    <p:extLst>
      <p:ext uri="{BB962C8B-B14F-4D97-AF65-F5344CB8AC3E}">
        <p14:creationId xmlns:p14="http://schemas.microsoft.com/office/powerpoint/2010/main" val="225110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3E282E-92AD-4BDC-94E8-94C05F12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31D24EBA-B8BE-4424-BA94-8B0167DA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條件說明與討論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4E95D8B-0651-4D61-AA72-4E3C8C495F27}"/>
              </a:ext>
            </a:extLst>
          </p:cNvPr>
          <p:cNvSpPr txBox="1"/>
          <p:nvPr/>
        </p:nvSpPr>
        <p:spPr>
          <a:xfrm>
            <a:off x="147981" y="1150837"/>
            <a:ext cx="88480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目標 </a:t>
            </a:r>
            <a:r>
              <a:rPr lang="en-US" altLang="zh-TW" b="1" i="0" dirty="0" err="1">
                <a:effectLst/>
                <a:ea typeface="微軟正黑體" panose="020B0604030504040204" pitchFamily="34" charset="-120"/>
              </a:rPr>
              <a:t>chmaber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恆溫在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22.7±0.1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度環境下，不同邊界條件模擬情境（需含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Air curtain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，模擬其對於外界環境與內部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chamber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影響）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﻿﻿外界環境（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21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度）＋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POD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21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+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Air Curtain</a:t>
            </a:r>
            <a:endParaRPr lang="zh-TW" altLang="en-US" b="0" i="0" dirty="0"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﻿﻿﻿外界環境（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23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度）＋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POD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23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+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Air Curtain</a:t>
            </a:r>
            <a:endParaRPr lang="zh-TW" altLang="en-US" b="0" i="0" dirty="0"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﻿﻿﻿外界環境（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23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度）＋無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POD +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Air Curtain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﻿﻿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外界環境（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21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度）＋有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POD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（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22.7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度）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 +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無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Air Curtain</a:t>
            </a:r>
          </a:p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Output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：上下出風 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HEPA 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對 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POD 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影響的熱場、流場、時間變化</a:t>
            </a:r>
            <a:r>
              <a:rPr lang="zh-TW" altLang="en-US" b="1" dirty="0">
                <a:ea typeface="微軟正黑體" panose="020B0604030504040204" pitchFamily="34" charset="-120"/>
              </a:rPr>
              <a:t>，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Air Curtain 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對 </a:t>
            </a:r>
            <a:r>
              <a:rPr lang="en-US" altLang="zh-TW" b="1" i="0" dirty="0">
                <a:effectLst/>
                <a:ea typeface="微軟正黑體" panose="020B0604030504040204" pitchFamily="34" charset="-120"/>
              </a:rPr>
              <a:t>chamber </a:t>
            </a: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內外的影響</a:t>
            </a:r>
            <a:endParaRPr lang="en-US" altLang="zh-TW" b="1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TW" altLang="en-US" b="1" i="0" dirty="0">
                <a:effectLst/>
                <a:ea typeface="微軟正黑體" panose="020B0604030504040204" pitchFamily="34" charset="-120"/>
              </a:rPr>
              <a:t>補充資訊：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chamber 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外面 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Down Flow: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0.1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m/s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Air Curtain 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的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 Down Flow: 0.1 m/s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，出風的寬度 </a:t>
            </a:r>
            <a:r>
              <a:rPr lang="en-US" altLang="zh-TW" dirty="0">
                <a:ea typeface="微軟正黑體" panose="020B0604030504040204" pitchFamily="34" charset="-120"/>
              </a:rPr>
              <a:t>378 mm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x </a:t>
            </a:r>
            <a:r>
              <a:rPr lang="zh-TW" altLang="en-US" dirty="0">
                <a:ea typeface="微軟正黑體" panose="020B0604030504040204" pitchFamily="34" charset="-120"/>
              </a:rPr>
              <a:t>厚度 </a:t>
            </a:r>
            <a:r>
              <a:rPr lang="en-US" altLang="zh-TW" dirty="0">
                <a:ea typeface="微軟正黑體" panose="020B0604030504040204" pitchFamily="34" charset="-120"/>
              </a:rPr>
              <a:t>50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mm</a:t>
            </a:r>
          </a:p>
          <a:p>
            <a:pPr marL="342900" indent="-342900" algn="l">
              <a:buFont typeface="+mj-lt"/>
              <a:buAutoNum type="arabicPeriod" startAt="2"/>
            </a:pP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POD 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重量 </a:t>
            </a:r>
            <a:r>
              <a:rPr lang="en-US" altLang="zh-TW" b="0" i="0" dirty="0">
                <a:effectLst/>
                <a:ea typeface="微軟正黑體" panose="020B0604030504040204" pitchFamily="34" charset="-120"/>
              </a:rPr>
              <a:t>2kg</a:t>
            </a:r>
            <a:r>
              <a:rPr lang="zh-TW" altLang="en-US" b="0" i="0" dirty="0">
                <a:effectLst/>
                <a:ea typeface="微軟正黑體" panose="020B0604030504040204" pitchFamily="34" charset="-120"/>
              </a:rPr>
              <a:t>，</a:t>
            </a:r>
            <a:r>
              <a:rPr lang="zh-TW" altLang="zh-TW" dirty="0"/>
              <a:t>熱傳導係數</a:t>
            </a:r>
            <a:r>
              <a:rPr lang="en-US" altLang="zh-TW" dirty="0"/>
              <a:t>0.17W/(m*k)</a:t>
            </a:r>
            <a:r>
              <a:rPr lang="zh-TW" altLang="en-US" dirty="0"/>
              <a:t>，</a:t>
            </a:r>
            <a:r>
              <a:rPr lang="zh-TW" altLang="zh-TW" dirty="0"/>
              <a:t>比熱</a:t>
            </a:r>
            <a:r>
              <a:rPr lang="en-US" altLang="zh-TW" dirty="0"/>
              <a:t>1.67 kJ/(</a:t>
            </a:r>
            <a:r>
              <a:rPr lang="en-US" altLang="zh-TW" dirty="0" err="1"/>
              <a:t>kg·K</a:t>
            </a:r>
            <a:r>
              <a:rPr lang="en-US" altLang="zh-TW" dirty="0"/>
              <a:t>)</a:t>
            </a:r>
            <a:endParaRPr lang="en-US" altLang="zh-TW" i="0" dirty="0"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buFont typeface="+mj-lt"/>
              <a:buAutoNum type="arabicPeriod" startAt="2"/>
            </a:pPr>
            <a:r>
              <a:rPr lang="en-US" altLang="zh-TW" dirty="0">
                <a:ea typeface="微軟正黑體" panose="020B0604030504040204" pitchFamily="34" charset="-120"/>
              </a:rPr>
              <a:t>Chamber </a:t>
            </a:r>
            <a:r>
              <a:rPr lang="zh-TW" altLang="en-US" dirty="0">
                <a:ea typeface="微軟正黑體" panose="020B0604030504040204" pitchFamily="34" charset="-120"/>
              </a:rPr>
              <a:t>往下風速</a:t>
            </a:r>
            <a:r>
              <a:rPr lang="en-US" altLang="zh-TW" dirty="0">
                <a:ea typeface="微軟正黑體" panose="020B0604030504040204" pitchFamily="34" charset="-120"/>
              </a:rPr>
              <a:t>0.1m/s</a:t>
            </a:r>
            <a:r>
              <a:rPr lang="zh-TW" altLang="en-US" dirty="0">
                <a:ea typeface="微軟正黑體" panose="020B0604030504040204" pitchFamily="34" charset="-120"/>
              </a:rPr>
              <a:t> 往上</a:t>
            </a:r>
            <a:r>
              <a:rPr lang="en-US" altLang="zh-TW" dirty="0">
                <a:ea typeface="微軟正黑體" panose="020B0604030504040204" pitchFamily="34" charset="-120"/>
              </a:rPr>
              <a:t>0.09m/s </a:t>
            </a:r>
            <a:r>
              <a:rPr lang="zh-TW" altLang="en-US" dirty="0">
                <a:ea typeface="微軟正黑體" panose="020B0604030504040204" pitchFamily="34" charset="-120"/>
              </a:rPr>
              <a:t>所以回風比</a:t>
            </a:r>
            <a:r>
              <a:rPr lang="en-US" altLang="zh-TW" dirty="0">
                <a:ea typeface="微軟正黑體" panose="020B0604030504040204" pitchFamily="34" charset="-120"/>
              </a:rPr>
              <a:t>0.9</a:t>
            </a:r>
          </a:p>
          <a:p>
            <a:pPr marL="342900" indent="-342900" algn="l">
              <a:buFont typeface="+mj-lt"/>
              <a:buAutoNum type="arabicPeriod" startAt="2"/>
            </a:pPr>
            <a:endParaRPr lang="en-US" altLang="zh-TW" dirty="0">
              <a:ea typeface="微軟正黑體" panose="020B0604030504040204" pitchFamily="34" charset="-120"/>
            </a:endParaRPr>
          </a:p>
          <a:p>
            <a:pPr algn="l"/>
            <a:endParaRPr lang="en-US" altLang="zh-TW" b="0" i="0" dirty="0">
              <a:effectLst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659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404D226-4075-40A1-B9A7-4BE1AEF6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0ED4BF5-8F42-4A22-BE9B-142C0D55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(1/4)</a:t>
            </a:r>
            <a:r>
              <a:rPr lang="zh-TW" altLang="en-US" dirty="0"/>
              <a:t>：流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場分析說明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836861" y="1351498"/>
            <a:ext cx="7643078" cy="5213758"/>
            <a:chOff x="1377760" y="1214338"/>
            <a:chExt cx="7643078" cy="5213758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7760" y="1214338"/>
              <a:ext cx="7643078" cy="5213758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A6592C4E-CDA4-49AE-8483-8D735401A2B3}"/>
                </a:ext>
              </a:extLst>
            </p:cNvPr>
            <p:cNvSpPr txBox="1"/>
            <p:nvPr/>
          </p:nvSpPr>
          <p:spPr>
            <a:xfrm>
              <a:off x="3094415" y="2141121"/>
              <a:ext cx="193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40404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Air Curtain</a:t>
              </a: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3036B967-3934-40F2-85D6-037039E66EAB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3977640" y="2510453"/>
              <a:ext cx="81975" cy="47049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060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404D226-4075-40A1-B9A7-4BE1AEF6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0ED4BF5-8F42-4A22-BE9B-142C0D55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(2/4)</a:t>
            </a:r>
            <a:r>
              <a:rPr lang="zh-TW" altLang="en-US" dirty="0"/>
              <a:t>：流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場分析說明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68" y="1410310"/>
            <a:ext cx="7556863" cy="515494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6592C4E-CDA4-49AE-8483-8D735401A2B3}"/>
              </a:ext>
            </a:extLst>
          </p:cNvPr>
          <p:cNvSpPr txBox="1"/>
          <p:nvPr/>
        </p:nvSpPr>
        <p:spPr>
          <a:xfrm>
            <a:off x="2571804" y="2314857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Air Curtain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036B967-3934-40F2-85D6-037039E66EAB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55029" y="2684189"/>
            <a:ext cx="81975" cy="470491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10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404D226-4075-40A1-B9A7-4BE1AEF6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0ED4BF5-8F42-4A22-BE9B-142C0D55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(3/4)</a:t>
            </a:r>
            <a:r>
              <a:rPr lang="zh-TW" altLang="en-US" dirty="0"/>
              <a:t>：流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場分析說明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度）＋無</a:t>
            </a:r>
            <a:r>
              <a:rPr lang="en-US" altLang="zh-TW" dirty="0">
                <a:ea typeface="微軟正黑體" panose="020B0604030504040204" pitchFamily="34" charset="-120"/>
              </a:rPr>
              <a:t>POD + </a:t>
            </a:r>
            <a:r>
              <a:rPr lang="zh-TW" altLang="en-US" dirty="0">
                <a:ea typeface="微軟正黑體" panose="020B0604030504040204" pitchFamily="34" charset="-120"/>
              </a:rPr>
              <a:t>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65" y="1377690"/>
            <a:ext cx="7701870" cy="525386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6592C4E-CDA4-49AE-8483-8D735401A2B3}"/>
              </a:ext>
            </a:extLst>
          </p:cNvPr>
          <p:cNvSpPr txBox="1"/>
          <p:nvPr/>
        </p:nvSpPr>
        <p:spPr>
          <a:xfrm>
            <a:off x="2571804" y="2314857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4040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Air Curtain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036B967-3934-40F2-85D6-037039E66EA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455029" y="2684189"/>
            <a:ext cx="81975" cy="470491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183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404D226-4075-40A1-B9A7-4BE1AEF6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0ED4BF5-8F42-4A22-BE9B-142C0D55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(4/4)</a:t>
            </a:r>
            <a:r>
              <a:rPr lang="zh-TW" altLang="en-US" dirty="0"/>
              <a:t>：流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場分析說明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度） </a:t>
            </a:r>
            <a:r>
              <a:rPr lang="en-US" altLang="zh-TW" dirty="0">
                <a:ea typeface="微軟正黑體" panose="020B0604030504040204" pitchFamily="34" charset="-120"/>
              </a:rPr>
              <a:t>+ </a:t>
            </a:r>
            <a:r>
              <a:rPr lang="zh-TW" altLang="en-US" dirty="0">
                <a:ea typeface="微軟正黑體" panose="020B0604030504040204" pitchFamily="34" charset="-120"/>
              </a:rPr>
              <a:t>無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5" y="1284401"/>
            <a:ext cx="7755409" cy="529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2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22D7F2D-B3F4-468C-A43B-325C39AA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D16E09B-9C0A-4812-9B2E-C27349DD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(1/4)</a:t>
            </a:r>
            <a:r>
              <a:rPr lang="zh-TW" altLang="en-US" dirty="0"/>
              <a:t>：溫度與時間相關分析</a:t>
            </a:r>
          </a:p>
        </p:txBody>
      </p:sp>
      <p:sp>
        <p:nvSpPr>
          <p:cNvPr id="8" name="矩形 7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25" y="4059870"/>
            <a:ext cx="3689480" cy="276711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65" y="1377690"/>
            <a:ext cx="3576240" cy="268218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EBFF48-438A-893C-8DA9-D1D7F26DD7DF}"/>
              </a:ext>
            </a:extLst>
          </p:cNvPr>
          <p:cNvSpPr/>
          <p:nvPr/>
        </p:nvSpPr>
        <p:spPr>
          <a:xfrm>
            <a:off x="4882897" y="4142257"/>
            <a:ext cx="37981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目的：觀察邊界條件為模擬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初始溫度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度放進腔內後升溫為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度之情況。</a:t>
            </a:r>
            <a:endParaRPr lang="en-US" altLang="zh-TW" dirty="0">
              <a:ea typeface="微軟正黑體" panose="020B0604030504040204" pitchFamily="34" charset="-120"/>
            </a:endParaRPr>
          </a:p>
          <a:p>
            <a:br>
              <a:rPr lang="en-US" altLang="zh-TW" dirty="0">
                <a:ea typeface="微軟正黑體" panose="020B0604030504040204" pitchFamily="34" charset="-120"/>
              </a:rPr>
            </a:br>
            <a:r>
              <a:rPr lang="zh-TW" altLang="en-US" dirty="0">
                <a:ea typeface="微軟正黑體" panose="020B0604030504040204" pitchFamily="34" charset="-120"/>
              </a:rPr>
              <a:t>結論：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溫度顯示此模擬對於升溫</a:t>
            </a:r>
            <a:r>
              <a:rPr lang="en-US" altLang="zh-TW" dirty="0">
                <a:ea typeface="微軟正黑體" panose="020B0604030504040204" pitchFamily="34" charset="-120"/>
              </a:rPr>
              <a:t>1.7</a:t>
            </a:r>
            <a:r>
              <a:rPr lang="zh-TW" altLang="en-US" dirty="0">
                <a:ea typeface="微軟正黑體" panose="020B0604030504040204" pitchFamily="34" charset="-120"/>
              </a:rPr>
              <a:t>度需極長的時間才能達到穩態。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E4E5430-8CCA-C485-03F2-F0D0DC82AF02}"/>
              </a:ext>
            </a:extLst>
          </p:cNvPr>
          <p:cNvGrpSpPr/>
          <p:nvPr/>
        </p:nvGrpSpPr>
        <p:grpSpPr>
          <a:xfrm>
            <a:off x="4731552" y="1378704"/>
            <a:ext cx="3930438" cy="2681166"/>
            <a:chOff x="4731552" y="1378704"/>
            <a:chExt cx="3930438" cy="2681166"/>
          </a:xfrm>
        </p:grpSpPr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1552" y="1378704"/>
              <a:ext cx="3930438" cy="2681166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19C9B15-2E4F-2BA6-17AE-8559BE11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404100" y="1680369"/>
              <a:ext cx="222450" cy="9366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E1136BD-2C25-6D06-FFC9-0ED6D9C93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404100" y="1806575"/>
              <a:ext cx="222450" cy="9366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2715225F-EB29-7D76-B592-F242588B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404100" y="1942306"/>
              <a:ext cx="222450" cy="9366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D05F1C74-69E7-B74C-E9C0-8CEB86FC5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068469" y="1680368"/>
              <a:ext cx="222450" cy="9366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837C1CDE-C09C-A066-201C-CEEB6EC6B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033045" y="1806574"/>
              <a:ext cx="222450" cy="9366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3445D87-BCC7-9D8D-DA61-3C1B71321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047434" y="1938336"/>
              <a:ext cx="222450" cy="93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128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22D7F2D-B3F4-468C-A43B-325C39AA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D16E09B-9C0A-4812-9B2E-C27349DD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(2/4)</a:t>
            </a:r>
            <a:r>
              <a:rPr lang="zh-TW" altLang="en-US" dirty="0"/>
              <a:t>：溫度與時間相關分析</a:t>
            </a:r>
          </a:p>
        </p:txBody>
      </p:sp>
      <p:sp>
        <p:nvSpPr>
          <p:cNvPr id="8" name="矩形 7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6" y="1369465"/>
            <a:ext cx="3497625" cy="262321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61" y="4159978"/>
            <a:ext cx="3415330" cy="2561498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0C300223-266B-DA17-67B5-F77E69CF1BF1}"/>
              </a:ext>
            </a:extLst>
          </p:cNvPr>
          <p:cNvGrpSpPr/>
          <p:nvPr/>
        </p:nvGrpSpPr>
        <p:grpSpPr>
          <a:xfrm>
            <a:off x="4658400" y="1422553"/>
            <a:ext cx="3800391" cy="2592453"/>
            <a:chOff x="4658400" y="1422553"/>
            <a:chExt cx="3800391" cy="2592453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8400" y="1422553"/>
              <a:ext cx="3800391" cy="2592453"/>
            </a:xfrm>
            <a:prstGeom prst="rect">
              <a:avLst/>
            </a:prstGeom>
          </p:spPr>
        </p:pic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0CF2B633-30A5-3DE5-0298-B81BB8D33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223125" y="1711326"/>
              <a:ext cx="211137" cy="8890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33674C1-A114-1228-4233-BB700A696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223125" y="1837532"/>
              <a:ext cx="211137" cy="88900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BB6C7B1-40BB-7838-3103-EC9354336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223125" y="1973263"/>
              <a:ext cx="211137" cy="88900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05D47419-41F3-544E-A6E4-C0E741DB0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887494" y="1711325"/>
              <a:ext cx="211137" cy="88900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B3997C93-E81C-63A6-93BE-AC83C792C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852070" y="1837531"/>
              <a:ext cx="211137" cy="88900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EEF2D996-6604-15A2-22BA-4BB30B476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866459" y="1969293"/>
              <a:ext cx="211137" cy="88900"/>
            </a:xfrm>
            <a:prstGeom prst="rect">
              <a:avLst/>
            </a:prstGeom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2F938F0C-BB04-25DF-6FE5-6A9D2A448A7D}"/>
              </a:ext>
            </a:extLst>
          </p:cNvPr>
          <p:cNvSpPr/>
          <p:nvPr/>
        </p:nvSpPr>
        <p:spPr>
          <a:xfrm>
            <a:off x="4882897" y="4142257"/>
            <a:ext cx="379816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目的：觀察邊界條件為模擬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初始溫度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度放進腔內後降溫至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度之情況。</a:t>
            </a:r>
            <a:endParaRPr lang="en-US" altLang="zh-TW" dirty="0">
              <a:ea typeface="微軟正黑體" panose="020B0604030504040204" pitchFamily="34" charset="-120"/>
            </a:endParaRPr>
          </a:p>
          <a:p>
            <a:br>
              <a:rPr lang="en-US" altLang="zh-TW" dirty="0">
                <a:ea typeface="微軟正黑體" panose="020B0604030504040204" pitchFamily="34" charset="-120"/>
              </a:rPr>
            </a:br>
            <a:r>
              <a:rPr lang="zh-TW" altLang="en-US" dirty="0">
                <a:ea typeface="微軟正黑體" panose="020B0604030504040204" pitchFamily="34" charset="-120"/>
              </a:rPr>
              <a:t>結論：此模擬對於降溫</a:t>
            </a:r>
            <a:r>
              <a:rPr lang="en-US" altLang="zh-TW" dirty="0">
                <a:ea typeface="微軟正黑體" panose="020B0604030504040204" pitchFamily="34" charset="-120"/>
              </a:rPr>
              <a:t>0.3</a:t>
            </a:r>
            <a:r>
              <a:rPr lang="zh-TW" altLang="en-US" dirty="0">
                <a:ea typeface="微軟正黑體" panose="020B0604030504040204" pitchFamily="34" charset="-120"/>
              </a:rPr>
              <a:t>度所造成的溫差極小但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要完全達到目標溫度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度依舊需要極長的時間。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80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22D7F2D-B3F4-468C-A43B-325C39AA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D16E09B-9C0A-4812-9B2E-C27349DD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(3/4)</a:t>
            </a:r>
            <a:r>
              <a:rPr lang="zh-TW" altLang="en-US" dirty="0"/>
              <a:t>：溫度與時間相關分析</a:t>
            </a:r>
          </a:p>
        </p:txBody>
      </p:sp>
      <p:sp>
        <p:nvSpPr>
          <p:cNvPr id="8" name="矩形 7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度）＋無</a:t>
            </a:r>
            <a:r>
              <a:rPr lang="en-US" altLang="zh-TW" dirty="0">
                <a:ea typeface="微軟正黑體" panose="020B0604030504040204" pitchFamily="34" charset="-120"/>
              </a:rPr>
              <a:t>POD + </a:t>
            </a:r>
            <a:r>
              <a:rPr lang="zh-TW" altLang="en-US" dirty="0">
                <a:ea typeface="微軟正黑體" panose="020B0604030504040204" pitchFamily="34" charset="-120"/>
              </a:rPr>
              <a:t>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" y="4088004"/>
            <a:ext cx="3511296" cy="263347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344881"/>
            <a:ext cx="3511296" cy="2633472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96043434-C864-7DAF-B07D-26C4BE2F9DDE}"/>
              </a:ext>
            </a:extLst>
          </p:cNvPr>
          <p:cNvGrpSpPr/>
          <p:nvPr/>
        </p:nvGrpSpPr>
        <p:grpSpPr>
          <a:xfrm>
            <a:off x="4834128" y="1377690"/>
            <a:ext cx="4186710" cy="2855982"/>
            <a:chOff x="4834128" y="1377690"/>
            <a:chExt cx="4186710" cy="2855982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4128" y="1377690"/>
              <a:ext cx="4186710" cy="2855982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F47D718-8212-C773-A7C8-2B0A78938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682703" y="1697543"/>
              <a:ext cx="230189" cy="96921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D1F653D-8EC3-22AB-3B75-E07DD8422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682703" y="1833274"/>
              <a:ext cx="230189" cy="96921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A4174C72-D3E6-A3CC-A192-BD4BFD73B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682703" y="1980774"/>
              <a:ext cx="230189" cy="96921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C23EF80-89EB-5388-B27A-C79BB7411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395492" y="1697068"/>
              <a:ext cx="230189" cy="96921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2D2EB43C-0F1A-99CF-DB25-6F2C7B66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345818" y="1833273"/>
              <a:ext cx="230189" cy="96921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F05F319-4003-97F2-24AC-225CDA7EF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358649" y="1980773"/>
              <a:ext cx="230189" cy="96921"/>
            </a:xfrm>
            <a:prstGeom prst="rect">
              <a:avLst/>
            </a:prstGeom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D9D758CE-FCBE-2634-5383-A65799CD59DB}"/>
              </a:ext>
            </a:extLst>
          </p:cNvPr>
          <p:cNvSpPr/>
          <p:nvPr/>
        </p:nvSpPr>
        <p:spPr>
          <a:xfrm>
            <a:off x="4882897" y="4142257"/>
            <a:ext cx="39334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目的：觀察在沒有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的情況下，環境為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度時的溫度場分布。</a:t>
            </a:r>
            <a:endParaRPr lang="en-US" altLang="zh-TW" dirty="0">
              <a:ea typeface="微軟正黑體" panose="020B0604030504040204" pitchFamily="34" charset="-120"/>
            </a:endParaRPr>
          </a:p>
          <a:p>
            <a:br>
              <a:rPr lang="en-US" altLang="zh-TW" dirty="0">
                <a:ea typeface="微軟正黑體" panose="020B0604030504040204" pitchFamily="34" charset="-120"/>
              </a:rPr>
            </a:br>
            <a:r>
              <a:rPr lang="zh-TW" altLang="en-US" dirty="0">
                <a:ea typeface="微軟正黑體" panose="020B0604030504040204" pitchFamily="34" charset="-120"/>
              </a:rPr>
              <a:t>結論：此模擬顯示氣體於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預設位置之溫度確實接近目標溫度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度。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2049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22D7F2D-B3F4-468C-A43B-325C39AA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D16E09B-9C0A-4812-9B2E-C27349DD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情境</a:t>
            </a:r>
            <a:r>
              <a:rPr lang="en-US" altLang="zh-TW" dirty="0"/>
              <a:t>(4/4)</a:t>
            </a:r>
            <a:r>
              <a:rPr lang="zh-TW" altLang="en-US" dirty="0"/>
              <a:t>：溫度與時間相關分析</a:t>
            </a:r>
          </a:p>
        </p:txBody>
      </p:sp>
      <p:sp>
        <p:nvSpPr>
          <p:cNvPr id="8" name="矩形 7"/>
          <p:cNvSpPr/>
          <p:nvPr/>
        </p:nvSpPr>
        <p:spPr>
          <a:xfrm>
            <a:off x="172800" y="957779"/>
            <a:ext cx="699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邊界條件：外界環境（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度） </a:t>
            </a:r>
            <a:r>
              <a:rPr lang="en-US" altLang="zh-TW" dirty="0">
                <a:ea typeface="微軟正黑體" panose="020B0604030504040204" pitchFamily="34" charset="-120"/>
              </a:rPr>
              <a:t>+ </a:t>
            </a:r>
            <a:r>
              <a:rPr lang="zh-TW" altLang="en-US" dirty="0">
                <a:ea typeface="微軟正黑體" panose="020B0604030504040204" pitchFamily="34" charset="-120"/>
              </a:rPr>
              <a:t>無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44" y="4165488"/>
            <a:ext cx="3590016" cy="269251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40" y="1253027"/>
            <a:ext cx="3806952" cy="2855214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C57E4076-2D68-7CF8-E52A-255353D39DCF}"/>
              </a:ext>
            </a:extLst>
          </p:cNvPr>
          <p:cNvGrpSpPr/>
          <p:nvPr/>
        </p:nvGrpSpPr>
        <p:grpSpPr>
          <a:xfrm>
            <a:off x="4943856" y="1327111"/>
            <a:ext cx="4076982" cy="2781130"/>
            <a:chOff x="4943856" y="1327111"/>
            <a:chExt cx="4076982" cy="2781130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3856" y="1327111"/>
              <a:ext cx="4076982" cy="2781130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140EE9F-A2CE-23A7-7CAD-1D1174722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713662" y="1639886"/>
              <a:ext cx="222450" cy="9366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CA60E78-55EB-D960-9B5B-91C0FB3D7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713662" y="1782761"/>
              <a:ext cx="222450" cy="9366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0B008DAA-1565-7132-6E52-B29588E56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7713662" y="1917696"/>
              <a:ext cx="222450" cy="9366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F69D4664-949C-2AF0-4D8E-76AFF0013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406607" y="1639886"/>
              <a:ext cx="222450" cy="9366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7319AE36-BBB5-A109-0B81-E192DB283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373665" y="1782760"/>
              <a:ext cx="222450" cy="9366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8F0E7693-42D5-E8BC-0425-8A0E7E7C0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417" t="24278" r="21040" b="29429"/>
            <a:stretch>
              <a:fillRect/>
            </a:stretch>
          </p:blipFill>
          <p:spPr>
            <a:xfrm>
              <a:off x="8388052" y="1917695"/>
              <a:ext cx="222450" cy="93663"/>
            </a:xfrm>
            <a:prstGeom prst="rect">
              <a:avLst/>
            </a:prstGeom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942A17C7-E47B-C69F-C73A-8B89FDE4C8CD}"/>
              </a:ext>
            </a:extLst>
          </p:cNvPr>
          <p:cNvSpPr/>
          <p:nvPr/>
        </p:nvSpPr>
        <p:spPr>
          <a:xfrm>
            <a:off x="4882897" y="4142257"/>
            <a:ext cx="39334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目的：觀察在沒有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r>
              <a:rPr lang="zh-TW" altLang="en-US" dirty="0">
                <a:ea typeface="微軟正黑體" panose="020B0604030504040204" pitchFamily="34" charset="-120"/>
              </a:rPr>
              <a:t>的情況下，環境為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度、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在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度時的溫度場分布。</a:t>
            </a:r>
            <a:endParaRPr lang="en-US" altLang="zh-TW" dirty="0">
              <a:ea typeface="微軟正黑體" panose="020B0604030504040204" pitchFamily="34" charset="-120"/>
            </a:endParaRPr>
          </a:p>
          <a:p>
            <a:br>
              <a:rPr lang="en-US" altLang="zh-TW" dirty="0">
                <a:ea typeface="微軟正黑體" panose="020B0604030504040204" pitchFamily="34" charset="-120"/>
              </a:rPr>
            </a:br>
            <a:r>
              <a:rPr lang="zh-TW" altLang="en-US" dirty="0">
                <a:ea typeface="微軟正黑體" panose="020B0604030504040204" pitchFamily="34" charset="-120"/>
              </a:rPr>
              <a:t>結論：此模擬顯示無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r>
              <a:rPr lang="zh-TW" altLang="en-US" dirty="0">
                <a:ea typeface="微軟正黑體" panose="020B0604030504040204" pitchFamily="34" charset="-120"/>
              </a:rPr>
              <a:t>擋住自然對流帶來的環境溫度，會導致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永遠無法達到目標溫度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度。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452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C71C9-9BC9-8BCA-A056-96AF1E93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4DCA29-9DB3-A85E-37F3-52915408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E395908B-B568-6D47-1D87-42E6CC4D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總結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C50289-A9EA-6711-D911-0F642F0E1011}"/>
              </a:ext>
            </a:extLst>
          </p:cNvPr>
          <p:cNvSpPr/>
          <p:nvPr/>
        </p:nvSpPr>
        <p:spPr>
          <a:xfrm>
            <a:off x="172800" y="1286963"/>
            <a:ext cx="88480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a typeface="微軟正黑體" panose="020B0604030504040204" pitchFamily="34" charset="-120"/>
              </a:rPr>
              <a:t>﻿﻿外界環境（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a typeface="微軟正黑體" panose="020B0604030504040204" pitchFamily="34" charset="-120"/>
              </a:rPr>
              <a:t>﻿﻿﻿外界環境（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endParaRPr lang="zh-TW" altLang="en-US" dirty="0"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a typeface="微軟正黑體" panose="020B0604030504040204" pitchFamily="34" charset="-120"/>
              </a:rPr>
              <a:t>﻿﻿﻿外界環境（</a:t>
            </a:r>
            <a:r>
              <a:rPr lang="en-US" altLang="zh-TW" dirty="0">
                <a:ea typeface="微軟正黑體" panose="020B0604030504040204" pitchFamily="34" charset="-120"/>
              </a:rPr>
              <a:t>23</a:t>
            </a:r>
            <a:r>
              <a:rPr lang="zh-TW" altLang="en-US" dirty="0">
                <a:ea typeface="微軟正黑體" panose="020B0604030504040204" pitchFamily="34" charset="-120"/>
              </a:rPr>
              <a:t>度）＋無</a:t>
            </a:r>
            <a:r>
              <a:rPr lang="en-US" altLang="zh-TW" dirty="0">
                <a:ea typeface="微軟正黑體" panose="020B0604030504040204" pitchFamily="34" charset="-120"/>
              </a:rPr>
              <a:t>POD +</a:t>
            </a:r>
            <a:r>
              <a:rPr lang="zh-TW" altLang="en-US" dirty="0">
                <a:ea typeface="微軟正黑體" panose="020B0604030504040204" pitchFamily="34" charset="-120"/>
              </a:rPr>
              <a:t> 有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ea typeface="微軟正黑體" panose="020B0604030504040204" pitchFamily="34" charset="-120"/>
              </a:rPr>
              <a:t>﻿﻿</a:t>
            </a:r>
            <a:r>
              <a:rPr lang="zh-TW" altLang="en-US" dirty="0">
                <a:ea typeface="微軟正黑體" panose="020B0604030504040204" pitchFamily="34" charset="-120"/>
              </a:rPr>
              <a:t>外界環境（</a:t>
            </a:r>
            <a:r>
              <a:rPr lang="en-US" altLang="zh-TW" dirty="0">
                <a:ea typeface="微軟正黑體" panose="020B0604030504040204" pitchFamily="34" charset="-120"/>
              </a:rPr>
              <a:t>21</a:t>
            </a:r>
            <a:r>
              <a:rPr lang="zh-TW" altLang="en-US" dirty="0">
                <a:ea typeface="微軟正黑體" panose="020B0604030504040204" pitchFamily="34" charset="-120"/>
              </a:rPr>
              <a:t>度）＋有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度）</a:t>
            </a:r>
            <a:r>
              <a:rPr lang="en-US" altLang="zh-TW" dirty="0">
                <a:ea typeface="微軟正黑體" panose="020B0604030504040204" pitchFamily="34" charset="-120"/>
              </a:rPr>
              <a:t> +</a:t>
            </a:r>
            <a:r>
              <a:rPr lang="zh-TW" altLang="en-US" dirty="0">
                <a:ea typeface="微軟正黑體" panose="020B0604030504040204" pitchFamily="34" charset="-120"/>
              </a:rPr>
              <a:t> 無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</a:p>
          <a:p>
            <a:r>
              <a:rPr lang="zh-TW" altLang="en-US" dirty="0">
                <a:ea typeface="微軟正黑體" panose="020B0604030504040204" pitchFamily="34" charset="-120"/>
              </a:rPr>
              <a:t>上述四種邊界條件於流場模擬結果顯示皆可將腔內氣體往外流出，用於避免腔外帶有環境溫度之氣體往腔內灌入，減少其對於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目標溫度</a:t>
            </a:r>
            <a:r>
              <a:rPr lang="en-US" altLang="zh-TW" dirty="0">
                <a:ea typeface="微軟正黑體" panose="020B0604030504040204" pitchFamily="34" charset="-120"/>
              </a:rPr>
              <a:t>(22.7</a:t>
            </a:r>
            <a:r>
              <a:rPr lang="zh-TW" altLang="en-US" dirty="0">
                <a:ea typeface="微軟正黑體" panose="020B0604030504040204" pitchFamily="34" charset="-120"/>
              </a:rPr>
              <a:t>度</a:t>
            </a:r>
            <a:r>
              <a:rPr lang="en-US" altLang="zh-TW" dirty="0"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ea typeface="微軟正黑體" panose="020B0604030504040204" pitchFamily="34" charset="-120"/>
              </a:rPr>
              <a:t>之影響。</a:t>
            </a:r>
            <a:br>
              <a:rPr lang="en-US" altLang="zh-TW" dirty="0">
                <a:ea typeface="微軟正黑體" panose="020B0604030504040204" pitchFamily="34" charset="-120"/>
              </a:rPr>
            </a:br>
            <a:r>
              <a:rPr lang="zh-TW" altLang="en-US" dirty="0">
                <a:ea typeface="微軟正黑體" panose="020B0604030504040204" pitchFamily="34" charset="-120"/>
              </a:rPr>
              <a:t>於溫度場模擬結果而論，確認了無裝載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時內部氣體區域溫度場接近目標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度，而有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的情況下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的平均溫度要達到目標溫度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度會需要極長的時間，則若無</a:t>
            </a:r>
            <a:r>
              <a:rPr lang="en-US" altLang="zh-TW" dirty="0">
                <a:ea typeface="微軟正黑體" panose="020B0604030504040204" pitchFamily="34" charset="-120"/>
              </a:rPr>
              <a:t>Air Curtain</a:t>
            </a:r>
            <a:r>
              <a:rPr lang="zh-TW" altLang="en-US" dirty="0">
                <a:ea typeface="微軟正黑體" panose="020B0604030504040204" pitchFamily="34" charset="-120"/>
              </a:rPr>
              <a:t>之情況會導致</a:t>
            </a:r>
            <a:r>
              <a:rPr lang="en-US" altLang="zh-TW" dirty="0">
                <a:ea typeface="微軟正黑體" panose="020B0604030504040204" pitchFamily="34" charset="-120"/>
              </a:rPr>
              <a:t>POD</a:t>
            </a:r>
            <a:r>
              <a:rPr lang="zh-TW" altLang="en-US" dirty="0">
                <a:ea typeface="微軟正黑體" panose="020B0604030504040204" pitchFamily="34" charset="-120"/>
              </a:rPr>
              <a:t>無法達到目標溫度</a:t>
            </a:r>
            <a:r>
              <a:rPr lang="en-US" altLang="zh-TW" dirty="0">
                <a:ea typeface="微軟正黑體" panose="020B0604030504040204" pitchFamily="34" charset="-120"/>
              </a:rPr>
              <a:t>22.7</a:t>
            </a:r>
            <a:r>
              <a:rPr lang="zh-TW" altLang="en-US" dirty="0">
                <a:ea typeface="微軟正黑體" panose="020B0604030504040204" pitchFamily="34" charset="-120"/>
              </a:rPr>
              <a:t>度。</a:t>
            </a:r>
          </a:p>
        </p:txBody>
      </p:sp>
    </p:spTree>
    <p:extLst>
      <p:ext uri="{BB962C8B-B14F-4D97-AF65-F5344CB8AC3E}">
        <p14:creationId xmlns:p14="http://schemas.microsoft.com/office/powerpoint/2010/main" val="8741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BBC089E-C811-47AB-92EF-9144A713A583}"/>
              </a:ext>
            </a:extLst>
          </p:cNvPr>
          <p:cNvSpPr txBox="1"/>
          <p:nvPr/>
        </p:nvSpPr>
        <p:spPr>
          <a:xfrm>
            <a:off x="3234266" y="3136612"/>
            <a:ext cx="3674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謝謝聆聽 </a:t>
            </a:r>
            <a:r>
              <a:rPr lang="en-US" altLang="zh-TW" sz="3200" dirty="0"/>
              <a:t>Q&amp;A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2505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4935</TotalTime>
  <Words>907</Words>
  <Application>Microsoft Office PowerPoint</Application>
  <PresentationFormat>如螢幕大小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微軟正黑體</vt:lpstr>
      <vt:lpstr>Arial</vt:lpstr>
      <vt:lpstr>Calibri</vt:lpstr>
      <vt:lpstr>Century Gothic</vt:lpstr>
      <vt:lpstr>Wingdings</vt:lpstr>
      <vt:lpstr>Office 佈景主題</vt:lpstr>
      <vt:lpstr>EBO 恆溫倉儲貨架概念性提案說明</vt:lpstr>
      <vt:lpstr>PowerPoint 簡報</vt:lpstr>
      <vt:lpstr>Simulation Layout說明</vt:lpstr>
      <vt:lpstr>條件說明與討論</vt:lpstr>
      <vt:lpstr>情境(1/4)：流場分析說明</vt:lpstr>
      <vt:lpstr>情境(2/4)：流場分析說明</vt:lpstr>
      <vt:lpstr>情境(3/4)：流場分析說明</vt:lpstr>
      <vt:lpstr>情境(4/4)：流場分析說明</vt:lpstr>
      <vt:lpstr>情境(1/4)：溫度與時間相關分析</vt:lpstr>
      <vt:lpstr>情境(2/4)：溫度與時間相關分析</vt:lpstr>
      <vt:lpstr>情境(3/4)：溫度與時間相關分析</vt:lpstr>
      <vt:lpstr>情境(4/4)：溫度與時間相關分析</vt:lpstr>
      <vt:lpstr>總結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陳雅萍</dc:creator>
  <cp:lastModifiedBy>陳昱瑋</cp:lastModifiedBy>
  <cp:revision>390</cp:revision>
  <dcterms:created xsi:type="dcterms:W3CDTF">2022-07-07T13:26:34Z</dcterms:created>
  <dcterms:modified xsi:type="dcterms:W3CDTF">2025-12-29T04:44:43Z</dcterms:modified>
</cp:coreProperties>
</file>